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0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6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e5e63ac0-78ba-409f-a0d9-b6457d67f9bd.claudeusercontent.com/cdn-cgi/l/email-protection" TargetMode="Externa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1619250"/>
            <a:ext cx="7239000" cy="409575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918778" y="2969022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777465" y="3400822"/>
            <a:ext cx="530557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238250" y="1428750"/>
            <a:ext cx="8801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1955800"/>
            <a:ext cx="8241030" cy="1553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850" kern="0" spc="-8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Registries: WHOIS, IRR &amp; RPKI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238250" y="3757017"/>
            <a:ext cx="8241030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who holds address space, who's authorized to route it, and how registries agree, disagree, and reveal routing risk.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38250" y="7626350"/>
            <a:ext cx="2478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7988300"/>
            <a:ext cx="247869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Jun 30 · 12:00 PT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158357" y="7626350"/>
            <a:ext cx="18953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58357" y="7988300"/>
            <a:ext cx="189533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 claffy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48140" y="7626350"/>
            <a:ext cx="52527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MENTORS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48140" y="7988300"/>
            <a:ext cx="52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Ricky Mok · Bradley Huffaker · Ben Du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90090" y="7626350"/>
            <a:ext cx="29430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CONTACT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90090" y="7988300"/>
            <a:ext cx="29430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</a:t>
            </a:r>
            <a:endParaRPr lang="en-US" sz="1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8572500"/>
            <a:ext cx="926207" cy="9144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957" y="857250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9857" y="8893175"/>
            <a:ext cx="627460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NSF ESCALATE project · OAC-2519416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building blocks — you are here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5415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454150" y="3071614"/>
            <a:ext cx="26397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structure &amp; ASNs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4242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5832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4658320" y="3071614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at scale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646591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62491" y="2500114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7862491" y="3071614"/>
            <a:ext cx="26398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Registries: WHOIS / IRR / RPKI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850861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066761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066761" y="3071614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Traceroute, ITDK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4055030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270931" y="2500114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4270931" y="3071614"/>
            <a:ext cx="26398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23825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45415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45415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44242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5832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465832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telescope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646591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86249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786249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fusion (IYP)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0850861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066761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1066761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forensics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4055030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427093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1427093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SDSC hackathon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1238250" y="9251950"/>
            <a:ext cx="17392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1–8 build one block at a time; weeks 9–10 integrate them into a full forensic pipeline.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· RECAP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week: BGP at scale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54100" y="3226792"/>
            <a:ext cx="11417299" cy="3213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pulled prefix-origin pairs from real BGP tables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(RouteViews / RIS via </a:t>
            </a:r>
            <a:r>
              <a:rPr lang="en-US" sz="2800" dirty="0" err="1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BGPKit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800" dirty="0"/>
          </a:p>
          <a:p>
            <a:pPr marL="0" indent="0" algn="l">
              <a:lnSpc>
                <a:spcPct val="140000"/>
              </a:lnSpc>
              <a:spcBef>
                <a:spcPts val="800"/>
              </a:spcBef>
              <a:buNone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saw MOAS, AS relationships, and customer cones at global scale.</a:t>
            </a:r>
            <a:endParaRPr lang="en-US" sz="2800" dirty="0"/>
          </a:p>
          <a:p>
            <a:pPr marL="0" indent="0" algn="l">
              <a:lnSpc>
                <a:spcPct val="140000"/>
              </a:lnSpc>
              <a:spcBef>
                <a:spcPts val="800"/>
              </a:spcBef>
              <a:buNone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a BGP origin is what's announced — but is it authorized?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515850" y="3944738"/>
            <a:ext cx="4933950" cy="3497461"/>
          </a:xfrm>
          <a:prstGeom prst="roundRect">
            <a:avLst>
              <a:gd name="adj" fmla="val 3824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706351" y="4351139"/>
            <a:ext cx="45542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BUILDS ON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163551" y="4801989"/>
            <a:ext cx="4264406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adds the authorization layer: who is allowed to originate a prefix, per the registries.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966528" y="4284663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19934" y="4716463"/>
            <a:ext cx="351613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it, who may route it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registries that record who owns address space and who may route it.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3419674"/>
            <a:ext cx="146685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3965774"/>
            <a:ext cx="13735050" cy="1766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300" kern="0" spc="-94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prefix appears in BGP — but is its origin AS authorized to announce it?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· THE BIG PICTURE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 of the degradation puzzle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22349" y="4079676"/>
            <a:ext cx="15159265" cy="3738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3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goal: understanding Internet dynamics</a:t>
            </a:r>
          </a:p>
          <a:p>
            <a:pPr marL="1200150" lvl="2" indent="-285750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3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attributing a country's connectivity degradation to a root cause.</a:t>
            </a:r>
            <a:endParaRPr lang="en-US" sz="32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3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hard — no single dataset shows cause; you assemble evidence.</a:t>
            </a:r>
            <a:endParaRPr lang="en-US" sz="32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3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are the ownership / authorization layer</a:t>
            </a:r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3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Traceroute, DNS, and geolocation are other dimensions (later in course)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DELEGATION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resources flow down a hierarchy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11678" y="3758547"/>
            <a:ext cx="9756321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resource: block of IP addresses or an AS number.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IANA delegates to five RIRs; RIRs delegate to LIRs or orgs.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records who holds what.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763403" y="7669448"/>
            <a:ext cx="5953097" cy="420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sz="2400" dirty="0"/>
              <a:t>IANA → RIR → LIR / end-user org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RIRs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Regional Internet Registries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42307" y="3187048"/>
            <a:ext cx="10648950" cy="130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ARIN, RIPE NCC, APNIC, LACNIC, AFRINIC — one per region.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publishes WHOIS / RDAP and daily delegated-stats files..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964" y="3645680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WHOIS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WHOIS: who registered the space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71550" y="4282877"/>
            <a:ext cx="10175421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 prefix or ASN; get the holder, org, and maintainer.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records registration and administration — not who routes it.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format varies by RIR, which makes parsing painful.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120" y="3368095"/>
            <a:ext cx="6241355" cy="370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RDAP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RDAP: the structured successor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3416301"/>
            <a:ext cx="8959850" cy="261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 as WHOIS</a:t>
            </a:r>
          </a:p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over HTTPS as machine-readable JSON.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Bootstrapping routes query to the authoritative RIR.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fields mean you can script lookups reliably.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681760" y="7522490"/>
            <a:ext cx="5948055" cy="420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sz="2400" dirty="0"/>
              <a:t>RDAP query → JSON you can parse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922" y="2612572"/>
            <a:ext cx="7645471" cy="4539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WHOIS VS RDAP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facts, two access methods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303264"/>
            <a:ext cx="7715250" cy="7221736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644650" y="2709664"/>
            <a:ext cx="75926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4650" y="3097014"/>
            <a:ext cx="75926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· free text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644650" y="379868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2C8D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20875" y="3693914"/>
            <a:ext cx="728884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Port-43 text; format differs per registry.</a:t>
            </a:r>
            <a:endParaRPr lang="en-US" sz="2300" dirty="0"/>
          </a:p>
          <a:p>
            <a:pPr marL="0" indent="0" algn="l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Human-readable, but brittle to parse at scale.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644650" y="440630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2C8D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334500" y="2303264"/>
            <a:ext cx="7715250" cy="7221736"/>
          </a:xfrm>
          <a:prstGeom prst="roundRect">
            <a:avLst>
              <a:gd name="adj" fmla="val 1319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740900" y="2709664"/>
            <a:ext cx="75926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RDAP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40900" y="3097014"/>
            <a:ext cx="75926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· JSON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740900" y="379868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17126" y="3693914"/>
            <a:ext cx="728884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 to the right RIR automatically.</a:t>
            </a:r>
            <a:endParaRPr lang="en-US" sz="2300" dirty="0"/>
          </a:p>
          <a:p>
            <a:pPr marL="0" indent="0" algn="l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fields; reliable for scripting.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9740900" y="440630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IRR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 Routing Registry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47700" y="3733800"/>
            <a:ext cx="10502900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of databases where operators publish routing policy.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RPSL; route objects say which AS originates a prefix.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turn these into prefix filters that accept/reject routes.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2514518" y="6934662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many IRR databases → route filters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464" y="3238499"/>
            <a:ext cx="5905500" cy="37339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IRR OBJECTS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objects you'll actually parse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52500" y="3987800"/>
            <a:ext cx="9906000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b="1" i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 route6 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bind a prefix to an origin AS (key object).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b="1" i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aut-num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describes an AS; as-set groups ASes for filters.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b="1" i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mntner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the authorization to edit related objects.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2510889" y="7524305"/>
            <a:ext cx="5948055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core RPSL object types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 · IRR TRUST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IRR data is equally trustworthy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09650" y="4346376"/>
            <a:ext cx="10126436" cy="261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IRRs: run by an RIR; check registration.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Non-authoritative IRRs (e.g., RADB) accept loosely-validated objects.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route object's source matters when you judge it.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VS RADB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 IRR object comes from matters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303264"/>
            <a:ext cx="7715250" cy="7221736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644650" y="2709664"/>
            <a:ext cx="75926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RADB et al.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4650" y="3097014"/>
            <a:ext cx="75926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non-authoritative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644650" y="379868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2C8D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20875" y="3693914"/>
            <a:ext cx="728884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register; weak resource checks.</a:t>
            </a:r>
            <a:endParaRPr lang="en-US" sz="2300" dirty="0"/>
          </a:p>
          <a:p>
            <a:pPr marL="0" indent="0" algn="l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objects can linger for years.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644650" y="440630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2C8D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334500" y="2303264"/>
            <a:ext cx="7715250" cy="7221736"/>
          </a:xfrm>
          <a:prstGeom prst="roundRect">
            <a:avLst>
              <a:gd name="adj" fmla="val 1319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740900" y="2709664"/>
            <a:ext cx="75926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RIR-operated IRR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40900" y="3097014"/>
            <a:ext cx="75926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740900" y="379868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17126" y="3693914"/>
            <a:ext cx="728884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the RIR's own registration.</a:t>
            </a:r>
            <a:endParaRPr lang="en-US" sz="2300" dirty="0"/>
          </a:p>
          <a:p>
            <a:pPr marL="0" indent="0" algn="l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confidence the origin is real.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9740900" y="440630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· FROM SCRATCH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RPKI: cryptographic route authorization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73100" y="3749477"/>
            <a:ext cx="10521043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RIRs act as trust anchors and sign certificates for resources.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holder issues a ROA: 'AS X may originate this prefix.'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become VRPs that routers check — no trust in free text.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2339945" y="77402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trust anchor → certificate → ROA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· ROA &amp; MAXLENGTH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 authorizes an origin and a length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862693" y="3954490"/>
            <a:ext cx="10371364" cy="2713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 = (prefix, maxLength, origin AS).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maxLength caps how specific an announcement may be.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</a:p>
          <a:p>
            <a:pPr marL="742950" lvl="1" indent="-285750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137.110.0.0/16, maxLength /20, AS7377 — a /24 is invalid.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863189" y="76386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one ROA, four announcements judged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· ROV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an announcement (ROV)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9848850" cy="1757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compare each prefix-origin to the covering VRPs.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valid, invalid (wrong AS or too long), or not-found.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not-found ≠ invalid — most space simply has no ROA yet.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339945" y="75751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ROV: valid / invalid / not-found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966528" y="4284663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19934" y="4716463"/>
            <a:ext cx="351613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records meet routing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registration, authorization, and observed BGP line up — or don't.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VS ROUTING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facts about one prefix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774700" y="3886201"/>
            <a:ext cx="9985829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holder (WHOIS / RDAP) — who owns the space.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origin (RPKI / IRR) — who may announce it.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origin (BGP) — who actually announces it.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VS ROUTING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sources disagree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22300" y="4000500"/>
            <a:ext cx="9827986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go stale; transfers and reassignments lag.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IRR validation lets wrong or old objects persist.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deliberate hijacks announce space the AS doesn't hold.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VS ROUTING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views of one prefix-origin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25979" y="4085119"/>
            <a:ext cx="9456964" cy="2007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RIR delegation: who the space is delegated to.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route object: who claims to originate it.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VRP: who is authorized; BGP: who originates it.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· STATUS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RPKI statuses, precisely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749300" y="3848100"/>
            <a:ext cx="10096500" cy="261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valid: a covering VRP matches origin and length.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 err="1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invalid_asn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2800" dirty="0" err="1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invalid_length</a:t>
            </a: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covered, but wrong AS or too specific.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not_found: no covering VRP — unknown, not rejected.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· STATUS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IRR statuses, precisely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08050" y="3467100"/>
            <a:ext cx="9671050" cy="3213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valid: an exact-prefix route object with the same origin AS.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invalid_asn / invalid_length: covered, but wrong AS or only a covering prefix.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has no maxLength — only the exact prefix counts as valid.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2701389" y="7397305"/>
            <a:ext cx="2932311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dirty="0"/>
              <a:t>IRR status taxonomy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↔ RPKI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IRR and RPKI agree?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98550" y="3622476"/>
            <a:ext cx="9569450" cy="3213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route object, find the covering RPKI VRP.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inconsistent_asn, inconsistent_length, or not_in_rpki.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 between the two is exactly what Task 3A measures.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/ Pakistan Telecom hijack — </a:t>
            </a:r>
            <a:r>
              <a:rPr lang="en-US" sz="4650" kern="0" spc="-46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24, 2008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238250" y="4320878"/>
            <a:ext cx="95973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4682828"/>
            <a:ext cx="9597390" cy="406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announced 208.65.152.0/22; the world routed to it normally.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8250" y="5336580"/>
            <a:ext cx="95973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8250" y="5698530"/>
            <a:ext cx="9597390" cy="406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AS17557 announced a more-specific /24; the leak spread worldwide.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6352282"/>
            <a:ext cx="95973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6714232"/>
            <a:ext cx="8986647" cy="774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Longest-prefix-match pulled YouTube traffic worldwide for ~2 hours — origin validation (ROV) would have flagged the bogus origin.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99509" y="8298954"/>
            <a:ext cx="4677684" cy="79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75" dirty="0" err="1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Kentik</a:t>
            </a: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'A Brief History of the Internet's Biggest BGP Incidents' (Madory).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15" name="Picture 14" descr="Pakistan Telecom hijack of YouTube">
            <a:extLst>
              <a:ext uri="{FF2B5EF4-FFF2-40B4-BE49-F238E27FC236}">
                <a16:creationId xmlns:a16="http://schemas.microsoft.com/office/drawing/2014/main" id="{C3911FBA-85F7-C5EF-0D55-79870321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700" y="3263186"/>
            <a:ext cx="7214034" cy="48394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records to routing security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60400" y="3530600"/>
            <a:ext cx="9931400" cy="2010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ROAs; enforce ROV to drop invalid announcements.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MANRS bundles this as basic routing hygiene for operators.</a:t>
            </a:r>
            <a:endParaRPr lang="en-US" sz="2800" dirty="0"/>
          </a:p>
          <a:p>
            <a:pPr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</a:pP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ROAs + ROV → fewer propagated hijacks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· ADOPTION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coverage is climbing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03250" y="3978076"/>
            <a:ext cx="8489950" cy="3817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RPKI-valid IPv4 routes rose from ~35% (2021–22) to ~54% (end 2024).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Persistently invalid stays tiny — about half a percent.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are not-found: no ROA yet, which is not a rejection.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622" y="3797301"/>
            <a:ext cx="9084678" cy="53940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049" y="2108201"/>
            <a:ext cx="8870783" cy="526702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· IMPACT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Invalids struggle to propagate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41350" y="3381176"/>
            <a:ext cx="9201150" cy="261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Kentik estimates ~74% of IP traffic goes to ROA-covered destinations.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transit providers now drop RPKI-invalid routes.</a:t>
            </a:r>
            <a:endParaRPr lang="en-US" sz="28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bogus origin spreads far less easily than in 2008.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966528" y="4284663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19934" y="4716463"/>
            <a:ext cx="351613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it: the assignment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every prefix-origin against IRR and RPKI, and watch the disagreement over time.</a:t>
            </a:r>
            <a:endParaRPr lang="en-US" sz="2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WORK WITH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inputs, fetched at run time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306392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38250" y="57649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238250" y="4306392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238250" y="4306392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7043400" y="4306392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63700" y="4636591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route objects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63700" y="5081092"/>
            <a:ext cx="7799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RPSL dumps from 16 IRR databases, one file per source per day — 15 return data for the sample day.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4549766" y="4711799"/>
            <a:ext cx="211263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549766" y="5061049"/>
            <a:ext cx="2112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&lt;source&gt;.db.gz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238250" y="6057007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38250" y="7515523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238250" y="60570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38250" y="6057007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7043400" y="6057007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663700" y="6387207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VRPs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63700" y="6831707"/>
            <a:ext cx="7799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ROA payloads from all five RIR trust anchors (RIPE archive).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4097050" y="6462415"/>
            <a:ext cx="25653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4097050" y="6811665"/>
            <a:ext cx="2565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roas.csv.xz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WORK WITH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ground truth, and the sample day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306392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38250" y="57649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238250" y="4306392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238250" y="4306392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7043400" y="4306392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63700" y="4636591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RouteViews pfx2as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63700" y="5081092"/>
            <a:ext cx="7799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BGP prefix-origin; multi-origin rows split into separate pairs.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4549766" y="4711799"/>
            <a:ext cx="211263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549766" y="5061049"/>
            <a:ext cx="2112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*.pfx2as.gz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238250" y="6057007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38250" y="7515523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238250" y="60570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38250" y="6057007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7043400" y="6057007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663700" y="6387207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day 2023-03-01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63700" y="6831707"/>
            <a:ext cx="7799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 IRR objects, ~400K VRPs, ~1M BGP pairs. Parsed files cached locally.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4097050" y="6462415"/>
            <a:ext cx="25653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4097050" y="6811665"/>
            <a:ext cx="2565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900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cache_nids/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273" dirty="0">
                <a:solidFill>
                  <a:srgbClr val="BE4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 · WEEK 3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onto NRP before the hands-on hour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35203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00150" y="435203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095500" y="442823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in. 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at nrp.ai with your institutional identity.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38250" y="520928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00150" y="520928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095500" y="528548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access. 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training-program-info@caida.org to be added.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38250" y="606653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00150" y="606653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095500" y="6142732"/>
            <a:ext cx="15402878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namespace. 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be added to </a:t>
            </a:r>
            <a:r>
              <a:rPr lang="en-US" sz="2400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caida-nids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NRP.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38250" y="692378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00150" y="692378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095500" y="699998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open. 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JupyterHub server (2 cores, 32 GB, SciPy) and open the notebook — ask on Mattermost if stuck.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comparison is built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238250" y="4801692"/>
            <a:ext cx="853535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day: load IRR, RPKI, and BGP; normalize to (prefix, origin) pairs; look up covering records in a radix tree; classify each pair.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38250" y="5822653"/>
            <a:ext cx="8286750" cy="11658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238250" y="5822653"/>
            <a:ext cx="44450" cy="1165820"/>
          </a:xfrm>
          <a:prstGeom prst="rect">
            <a:avLst/>
          </a:prstGeom>
          <a:solidFill>
            <a:srgbClr val="BE42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68450" y="6904812"/>
            <a:ext cx="8234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b="1" kern="0" spc="144" dirty="0">
                <a:solidFill>
                  <a:srgbClr val="BE4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LIMITS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68450" y="7266762"/>
            <a:ext cx="823468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partial — many prefixes have no ROA or route object, so not_found / not_in_rpki is common and is not the same as 'wrong'.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191750" y="376465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191750" y="44949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191750" y="37646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191750" y="376465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7043400" y="376465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521951" y="3980557"/>
            <a:ext cx="3213878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35829" y="3980557"/>
            <a:ext cx="3213879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· RPKI · BGP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48850" y="457745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191750" y="493940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191750" y="56696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191750" y="49394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191750" y="493940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7043400" y="493940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521951" y="5155307"/>
            <a:ext cx="32275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49546" y="5155307"/>
            <a:ext cx="3227596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trees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848850" y="575220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191750" y="611415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191750" y="68444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0191750" y="61141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191750" y="611415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7043400" y="611415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521951" y="6330057"/>
            <a:ext cx="319330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715251" y="6330057"/>
            <a:ext cx="3193301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pair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848850" y="692695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0191750" y="728890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483851" y="7504807"/>
            <a:ext cx="3226072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3709923" y="7504807"/>
            <a:ext cx="3226073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fractions / trend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WHAT YOU IMPLEMENT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fill in four functions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6"/>
            <a:ext cx="9150350" cy="1757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greedy_irr_coverage for the one-day coverage table (Task 2A).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classify_rpki, classify_irr, and the consistency check (Task 2C).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daily_irr_rpki_consistency for the monthly trend (Task 3).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everything else — loading, parsing, trees — is scaffolded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PARSE IRR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RPSL records to tidy rows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869950" y="4384476"/>
            <a:ext cx="9493250" cy="227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dumps are whois-style key:value records (parser provided).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pulls route / route6 + origin into (source, prefix, origin) rows.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objects are skipped so one bad record can't stop the run.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RPSL record → prefix-origin row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NORMALIZE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everything comparable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388191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Prefixes normalized to CIDR; ASNs to integers.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pfx2as multi-origin rows expand to one row per origin.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 and IPv6 are handled separately throughout.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one row per (prefix, origin)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RADIX TREES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Covering-prefix lookups, fast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6"/>
            <a:ext cx="9023350" cy="1757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needs the covering prefix, not an exact match.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build_vrp_trees / build_irr_trees make one tree per family.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search_covering() returns every covering VRP or route object.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radix tree → covering records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TASK 2A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IRR databases cover the most?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20750" y="4435276"/>
            <a:ext cx="9518650" cy="227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Greedily order IRR databases by the new prefixes each one adds.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each database only for prefixes / origins not already covered.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how far RADB outpaces every other source — even NTT, the next-largest non-RIR database, adds only ~7.5% more prefixes (Q1).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greedy IRR coverage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classify_rpki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RPKI validation (Q2)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388191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covering VRPs for the (prefix, origin).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origin and length ≤ maxLength → valid (short-circuit).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 → invalid_asn; too long → invalid_length; none → not_found.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classify_rpki: the decision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classify_irr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validity + RPKI consistency (Q2)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388191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covering lookup against IRR route objects.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prefix + same origin → valid; else invalid_asn / invalid_length.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classify_irr_rpki_consistency compares each IRR pair to its covering VRP.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classify_irr + consistency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· TASK 2B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one day against each IRR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6"/>
            <a:ext cx="16541750" cy="1757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2023-03-01, classify every BGP pair vs each IRR database and vs RPKI.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per-source irr_valid_fraction and rpki_valid_fraction.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invalid_asn vs invalid_length, and IRR vs RPKI (Q2).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· TASK 3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disagreement, Jan–Jun 2023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6"/>
            <a:ext cx="9290050" cy="227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monthly snapshots; classify each IRR pair against same-day VRPs.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/ inconsistent_asn / inconsistent_length / not_in_rpki.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disagreement_fraction across the six months (Q3).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TIPS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six-month run survivable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388191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285750" indent="-285750" algn="l">
              <a:lnSpc>
                <a:spcPct val="140000"/>
              </a:lnSpc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on one day or one month before running all six.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parsed daily files; reruns skip what's already done.</a:t>
            </a:r>
            <a:endParaRPr lang="en-US" sz="2400" dirty="0"/>
          </a:p>
          <a:p>
            <a:pPr marL="285750" indent="-285750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SzPct val="68000"/>
              <a:buFont typeface="Arial"/>
              <a:buChar char="■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multiprocessing only for independent per-day fetch and parse.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cache → parallel days → monthly trend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3 · DUE BEGINNING OF WEEK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nids-irr-rpki-whois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238250" y="2246114"/>
            <a:ext cx="11086148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IRR, RPKI, and BGP, then track how IRR–RPKI agreement changes over six months.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38250" y="3383359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552575" y="3278584"/>
            <a:ext cx="1092898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get NRP access and run the notebook end to end.</a:t>
            </a:r>
            <a:endParaRPr lang="en-US" sz="2200" dirty="0"/>
          </a:p>
          <a:p>
            <a:pPr marL="0" indent="0" algn="l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one-day greedy coverage (Q1) and per-source classification (Q2).</a:t>
            </a:r>
            <a:endParaRPr lang="en-US" sz="2200" dirty="0"/>
          </a:p>
          <a:p>
            <a:pPr marL="0" indent="0" algn="l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monthly IRR–RPKI disagreement, Jan–Jun 2023 (Q3).</a:t>
            </a:r>
            <a:endParaRPr lang="en-US" sz="2200" dirty="0"/>
          </a:p>
          <a:p>
            <a:pPr marL="0" indent="0" algn="l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all notebook tasks and questions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8250" y="3946227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238250" y="4509095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238250" y="5071964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2573000" y="2246114"/>
            <a:ext cx="4476750" cy="7278886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934950" y="2608064"/>
            <a:ext cx="4128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MILESTONE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934950" y="3008114"/>
            <a:ext cx="386543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registries / routing-authorization section of your own training module.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934950" y="4272855"/>
            <a:ext cx="375285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934950" y="4587180"/>
            <a:ext cx="4128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934950" y="4987230"/>
            <a:ext cx="386543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github.com/CAIDA/nids-irr-rpki-whois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BUILDING BLOCK 3 /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week, in five steps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350889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52575" y="2246114"/>
            <a:ext cx="1107630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NRP access and run the setup cells.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8250" y="2913757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52575" y="2808982"/>
            <a:ext cx="1107630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Task 2 on 2023-03-01, then Task 3 across Jan–Jun 2023.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38250" y="3476625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552575" y="3371850"/>
            <a:ext cx="1107630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assignment by the beginning of next week.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38250" y="4039493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552575" y="3934718"/>
            <a:ext cx="1107630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the plenary — or catch up; materials are posted.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38250" y="4602361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552575" y="4497586"/>
            <a:ext cx="1107630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hands-on hour and mentors for infrastructure help.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573000" y="2246114"/>
            <a:ext cx="4476750" cy="2570988"/>
          </a:xfrm>
          <a:prstGeom prst="roundRect">
            <a:avLst>
              <a:gd name="adj" fmla="val 474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896850" y="2569964"/>
            <a:ext cx="42119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BACKGROUND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896850" y="2970014"/>
            <a:ext cx="394392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(not graded): Du et al. (PAM 2022; IMC 2023), ICANN SSAC SAC-121, and Testart &amp; Clark (2017) — why records drift and hijacks happen.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573000" y="5018270"/>
            <a:ext cx="4476750" cy="1238250"/>
          </a:xfrm>
          <a:prstGeom prst="roundRect">
            <a:avLst>
              <a:gd name="adj" fmla="val 7692"/>
            </a:avLst>
          </a:prstGeom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903201" y="5310371"/>
            <a:ext cx="419798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</a:t>
            </a:r>
            <a:r>
              <a:rPr lang="en-US" sz="21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Mattermost (fastest)</a:t>
            </a:r>
            <a:endParaRPr lang="en-US" sz="2100" dirty="0"/>
          </a:p>
        </p:txBody>
      </p:sp>
      <p:sp>
        <p:nvSpPr>
          <p:cNvPr id="20" name="Text 18">
            <a:hlinkClick r:id="rId2"/>
          </p:cNvPr>
          <p:cNvSpPr/>
          <p:nvPr/>
        </p:nvSpPr>
        <p:spPr>
          <a:xfrm>
            <a:off x="12903201" y="5659621"/>
            <a:ext cx="41979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training-program-info@caida.org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90750"/>
            <a:ext cx="10267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 SELF-STUDY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2565400"/>
            <a:ext cx="1026795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750" dirty="0"/>
          </a:p>
        </p:txBody>
      </p:sp>
      <p:sp>
        <p:nvSpPr>
          <p:cNvPr id="4" name="Text 2"/>
          <p:cNvSpPr/>
          <p:nvPr/>
        </p:nvSpPr>
        <p:spPr>
          <a:xfrm>
            <a:off x="1238250" y="4613275"/>
            <a:ext cx="961453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detail, not covered live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38250" y="6121996"/>
            <a:ext cx="9614535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deeper slides so the deck stands on its own — reference, not required.</a:t>
            </a:r>
            <a:endParaRPr lang="en-US" sz="25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RPKI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RPKI validation, a little deeper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4997946"/>
            <a:ext cx="951642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RIRs act as trust anchors, each published as a TAL; relying-party software (e.g., Routinator) fetches and validates the certificate tree into VRPs.</a:t>
            </a:r>
            <a:endParaRPr lang="en-US" sz="2400" dirty="0"/>
          </a:p>
          <a:p>
            <a:pPr marL="0" indent="0" algn="l">
              <a:lnSpc>
                <a:spcPct val="145000"/>
              </a:lnSpc>
              <a:spcBef>
                <a:spcPts val="800"/>
              </a:spcBef>
              <a:buNone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deployment is partial, many prefix-origins are not-found rather than invalid — absence of a ROA is not a rejection.</a:t>
            </a:r>
            <a:endParaRPr lang="en-US" sz="24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3904357"/>
            <a:ext cx="5905500" cy="40005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13585528" y="5527973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05785" y="5959773"/>
            <a:ext cx="358243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IRR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IRR ecosystem, a little deeper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4997946"/>
            <a:ext cx="951642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RPSL covers more than route objects: aut-num policy, as-sets for filters, and mntner objects for authorization. Many IRRs mirror each other, which spreads stale objects widely.</a:t>
            </a:r>
            <a:endParaRPr lang="en-US" sz="2400" dirty="0"/>
          </a:p>
          <a:p>
            <a:pPr marL="0" indent="0" algn="l">
              <a:lnSpc>
                <a:spcPct val="145000"/>
              </a:lnSpc>
              <a:spcBef>
                <a:spcPts val="800"/>
              </a:spcBef>
              <a:buNone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 route object's source and freshness matter — and why IRR-valid requires an exact-prefix match, not just a covering object.</a:t>
            </a:r>
            <a:endParaRPr lang="en-US" sz="2400" dirty="0"/>
          </a:p>
        </p:txBody>
      </p:sp>
      <p:pic>
        <p:nvPicPr>
          <p:cNvPr id="900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3904357"/>
            <a:ext cx="5905500" cy="40005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13585528" y="5527973"/>
            <a:ext cx="10229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05785" y="5959773"/>
            <a:ext cx="358243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terms and acronyms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2313424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Advanced, program- or platform-specific terms only — alphabetical.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18" name="Glossary list"/>
          <p:cNvSpPr txBox="1"/>
          <p:nvPr/>
        </p:nvSpPr>
        <p:spPr>
          <a:xfrm>
            <a:off x="1238250" y="2814566"/>
            <a:ext cx="15819120" cy="2103120"/>
          </a:xfrm>
          <a:prstGeom prst="rect">
            <a:avLst/>
          </a:prstGeom>
          <a:noFill/>
        </p:spPr>
        <p:txBody>
          <a:bodyPr wrap="square" numCol="2" spcCol="502920" anchor="t">
            <a:noAutofit/>
          </a:bodyPr>
          <a:lstStyle/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authoritative IRR  </a:t>
            </a:r>
            <a:r>
              <a:rPr sz="1800">
                <a:solidFill>
                  <a:srgbClr val="343A40"/>
                </a:solidFill>
              </a:rPr>
              <a:t>RIR-run routing registry that validates route objects against the RIR's own registration.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IRR  </a:t>
            </a:r>
            <a:r>
              <a:rPr sz="1800">
                <a:solidFill>
                  <a:srgbClr val="343A40"/>
                </a:solidFill>
              </a:rPr>
              <a:t>Internet Routing Registry — distributed databases of routing policy used to build filters.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maxLength  </a:t>
            </a:r>
            <a:r>
              <a:rPr sz="1800">
                <a:solidFill>
                  <a:srgbClr val="343A40"/>
                </a:solidFill>
              </a:rPr>
              <a:t>ROA field capping how specific (long) an authorized prefix announcement may be.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RADB  </a:t>
            </a:r>
            <a:r>
              <a:rPr sz="1800">
                <a:solidFill>
                  <a:srgbClr val="343A40"/>
                </a:solidFill>
              </a:rPr>
              <a:t>Large non-authoritative IRR database operated by Merit; widely mirrored.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RDAP  </a:t>
            </a:r>
            <a:r>
              <a:rPr sz="1800">
                <a:solidFill>
                  <a:srgbClr val="343A40"/>
                </a:solidFill>
              </a:rPr>
              <a:t>Registration Data Access Protocol — structured JSON / HTTPS successor to WHOIS.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RIR  </a:t>
            </a:r>
            <a:r>
              <a:rPr sz="1800">
                <a:solidFill>
                  <a:srgbClr val="343A40"/>
                </a:solidFill>
              </a:rPr>
              <a:t>Regional Internet Registry — allocates and records number resources for a region.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ROA  </a:t>
            </a:r>
            <a:r>
              <a:rPr sz="1800">
                <a:solidFill>
                  <a:srgbClr val="343A40"/>
                </a:solidFill>
              </a:rPr>
              <a:t>Route Origin Authorization — signed (prefix, maxLength, origin AS) statement in RPKI.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route / route6  </a:t>
            </a:r>
            <a:r>
              <a:rPr sz="1800">
                <a:solidFill>
                  <a:srgbClr val="343A40"/>
                </a:solidFill>
              </a:rPr>
              <a:t>RPSL object binding an IPv4 / IPv6 prefix to an origin AS (exact-prefix match).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ROV  </a:t>
            </a:r>
            <a:r>
              <a:rPr sz="1800">
                <a:solidFill>
                  <a:srgbClr val="343A40"/>
                </a:solidFill>
              </a:rPr>
              <a:t>Route Origin Validation — checking a BGP announcement against RPKI VRPs.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RPKI  </a:t>
            </a:r>
            <a:r>
              <a:rPr sz="1800">
                <a:solidFill>
                  <a:srgbClr val="343A40"/>
                </a:solidFill>
              </a:rPr>
              <a:t>Resource Public Key Infrastructure — cryptographically binds prefixes to authorized origins.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trust anchor  </a:t>
            </a:r>
            <a:r>
              <a:rPr sz="1800">
                <a:solidFill>
                  <a:srgbClr val="343A40"/>
                </a:solidFill>
              </a:rPr>
              <a:t>Top RPKI certificate (one per RIR), distributed as a TAL, that roots validation.</a:t>
            </a:r>
          </a:p>
          <a:p>
            <a:pPr>
              <a:spcAft>
                <a:spcPts val="700"/>
              </a:spcAft>
            </a:pPr>
            <a:r>
              <a:rPr sz="2100" b="1">
                <a:solidFill>
                  <a:srgbClr val="2B5187"/>
                </a:solidFill>
              </a:rPr>
              <a:t>VRP  </a:t>
            </a:r>
            <a:r>
              <a:rPr sz="1800">
                <a:solidFill>
                  <a:srgbClr val="343A40"/>
                </a:solidFill>
              </a:rPr>
              <a:t>Validated ROA Payload — the (prefix, maxLength, origin) tuple routers use for ROV.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3434</Words>
  <Application>Microsoft Macintosh PowerPoint</Application>
  <PresentationFormat>Custom</PresentationFormat>
  <Paragraphs>437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kc claffy</cp:lastModifiedBy>
  <cp:revision>2</cp:revision>
  <dcterms:created xsi:type="dcterms:W3CDTF">2026-06-21T00:44:42Z</dcterms:created>
  <dcterms:modified xsi:type="dcterms:W3CDTF">2026-07-01T04:37:27Z</dcterms:modified>
</cp:coreProperties>
</file>